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8.jpg" ContentType="image/png"/>
  <Override PartName="/ppt/media/image9.jpg" ContentType="image/png"/>
  <Override PartName="/ppt/media/image12.jpg" ContentType="image/png"/>
  <Override PartName="/ppt/media/image13.jpg" ContentType="image/png"/>
  <Override PartName="/ppt/media/image15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6" r:id="rId4"/>
    <p:sldId id="269" r:id="rId5"/>
    <p:sldId id="287" r:id="rId6"/>
    <p:sldId id="270" r:id="rId7"/>
    <p:sldId id="271" r:id="rId8"/>
    <p:sldId id="272" r:id="rId9"/>
    <p:sldId id="259" r:id="rId10"/>
    <p:sldId id="260" r:id="rId11"/>
    <p:sldId id="288" r:id="rId12"/>
    <p:sldId id="289" r:id="rId13"/>
    <p:sldId id="281" r:id="rId14"/>
    <p:sldId id="293" r:id="rId15"/>
    <p:sldId id="290" r:id="rId16"/>
    <p:sldId id="291" r:id="rId17"/>
    <p:sldId id="282" r:id="rId18"/>
    <p:sldId id="283" r:id="rId19"/>
    <p:sldId id="294" r:id="rId20"/>
    <p:sldId id="267" r:id="rId21"/>
    <p:sldId id="268" r:id="rId22"/>
    <p:sldId id="286" r:id="rId23"/>
    <p:sldId id="29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99"/>
    <a:srgbClr val="253917"/>
    <a:srgbClr val="2032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1" autoAdjust="0"/>
    <p:restoredTop sz="94660" autoAdjust="0"/>
  </p:normalViewPr>
  <p:slideViewPr>
    <p:cSldViewPr snapToGrid="0">
      <p:cViewPr varScale="1">
        <p:scale>
          <a:sx n="73" d="100"/>
          <a:sy n="73" d="100"/>
        </p:scale>
        <p:origin x="-606" y="-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E5AF-72A2-49F2-B1A9-B766D3E6F23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8EDBF-2A97-4706-A7EF-C3E8DA367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0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E5AF-72A2-49F2-B1A9-B766D3E6F23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8EDBF-2A97-4706-A7EF-C3E8DA367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3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E5AF-72A2-49F2-B1A9-B766D3E6F23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8EDBF-2A97-4706-A7EF-C3E8DA367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4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E5AF-72A2-49F2-B1A9-B766D3E6F23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8EDBF-2A97-4706-A7EF-C3E8DA367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50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E5AF-72A2-49F2-B1A9-B766D3E6F23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8EDBF-2A97-4706-A7EF-C3E8DA367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4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E5AF-72A2-49F2-B1A9-B766D3E6F23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8EDBF-2A97-4706-A7EF-C3E8DA367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907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E5AF-72A2-49F2-B1A9-B766D3E6F23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8EDBF-2A97-4706-A7EF-C3E8DA367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3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E5AF-72A2-49F2-B1A9-B766D3E6F23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8EDBF-2A97-4706-A7EF-C3E8DA367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1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E5AF-72A2-49F2-B1A9-B766D3E6F23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8EDBF-2A97-4706-A7EF-C3E8DA367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40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E5AF-72A2-49F2-B1A9-B766D3E6F23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8EDBF-2A97-4706-A7EF-C3E8DA367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003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5E5AF-72A2-49F2-B1A9-B766D3E6F23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8EDBF-2A97-4706-A7EF-C3E8DA367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11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5E5AF-72A2-49F2-B1A9-B766D3E6F23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8EDBF-2A97-4706-A7EF-C3E8DA367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896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785389" y="90487"/>
            <a:ext cx="69494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Universidad de Ciego de Ávila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áximo Gómez Báez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Facultad de Informática y Ciencias </a:t>
            </a: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Exactas</a:t>
            </a:r>
          </a:p>
          <a:p>
            <a:pPr algn="ctr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000" dirty="0">
                <a:latin typeface="Arial" panose="020B0604020202020204" pitchFamily="34" charset="0"/>
                <a:ea typeface="Times New Roman" panose="02020603050405020304" pitchFamily="18" charset="0"/>
              </a:rPr>
              <a:t>Carrera: Ing. Informática</a:t>
            </a:r>
            <a:r>
              <a:rPr lang="es-ES" sz="20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s-MX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Imagen 4" descr="C:\Users\Ores\AppData\Local\Microsoft\Windows\INetCache\Content.Word\NEGRO.PNG">
            <a:extLst>
              <a:ext uri="{FF2B5EF4-FFF2-40B4-BE49-F238E27FC236}">
                <a16:creationId xmlns:a16="http://schemas.microsoft.com/office/drawing/2014/main" xmlns="" id="{89601B4F-C7F0-4305-9B1D-91448841D5F3}"/>
              </a:ext>
            </a:extLst>
          </p:cNvPr>
          <p:cNvPicPr/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8696" y="90487"/>
            <a:ext cx="1933304" cy="181208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/>
          <p:cNvSpPr txBox="1"/>
          <p:nvPr/>
        </p:nvSpPr>
        <p:spPr>
          <a:xfrm>
            <a:off x="738398" y="1579105"/>
            <a:ext cx="104869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U" sz="3200" i="1" dirty="0">
                <a:latin typeface="Arial" panose="020B0604020202020204" pitchFamily="34" charset="0"/>
                <a:cs typeface="Arial" panose="020B0604020202020204" pitchFamily="34" charset="0"/>
              </a:rPr>
              <a:t>Sistema informático para la gestión de información de las </a:t>
            </a:r>
            <a:r>
              <a:rPr lang="es-C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tesis de </a:t>
            </a:r>
            <a:r>
              <a:rPr lang="es-CU" sz="3200" i="1" dirty="0">
                <a:latin typeface="Arial" panose="020B0604020202020204" pitchFamily="34" charset="0"/>
                <a:cs typeface="Arial" panose="020B0604020202020204" pitchFamily="34" charset="0"/>
              </a:rPr>
              <a:t>la Universidad de Ciego de Ávila ¨Máximo Gómez Báez¨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3002846" y="3585430"/>
            <a:ext cx="65145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Proyecto final de programación web, base de datos avanzada e ingeniería de requisitos</a:t>
            </a:r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2018101" y="4853092"/>
            <a:ext cx="8484013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U" sz="2000" dirty="0">
                <a:latin typeface="Arial" panose="020B0604020202020204" pitchFamily="34" charset="0"/>
                <a:cs typeface="Arial" panose="020B0604020202020204" pitchFamily="34" charset="0"/>
              </a:rPr>
              <a:t>Autores: </a:t>
            </a:r>
            <a:r>
              <a:rPr lang="es-C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Alberto Castañeda Valdivia</a:t>
            </a:r>
            <a:endParaRPr lang="es-C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</a:p>
          <a:p>
            <a:pPr algn="ctr"/>
            <a:endParaRPr lang="es-C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s-ES" sz="20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Año 2025, </a:t>
            </a:r>
            <a:r>
              <a:rPr lang="es-ES" sz="2000" dirty="0">
                <a:latin typeface="Arial" panose="020B0604020202020204" pitchFamily="34" charset="0"/>
                <a:ea typeface="Times New Roman" panose="02020603050405020304" pitchFamily="18" charset="0"/>
              </a:rPr>
              <a:t>Ciego de Ávila</a:t>
            </a:r>
            <a:r>
              <a:rPr lang="es-ES" sz="20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s-MX" sz="2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3409405" y="209806"/>
            <a:ext cx="8229600" cy="1252728"/>
          </a:xfrm>
        </p:spPr>
        <p:txBody>
          <a:bodyPr/>
          <a:lstStyle/>
          <a:p>
            <a:pPr algn="r"/>
            <a:r>
              <a:rPr lang="es-E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</p:txBody>
      </p:sp>
      <p:sp>
        <p:nvSpPr>
          <p:cNvPr id="5" name="Rectángulo 4"/>
          <p:cNvSpPr/>
          <p:nvPr/>
        </p:nvSpPr>
        <p:spPr>
          <a:xfrm>
            <a:off x="1549343" y="1803327"/>
            <a:ext cx="30748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Sistema </a:t>
            </a:r>
            <a:r>
              <a:rPr lang="es-CU" sz="2000" b="1" dirty="0">
                <a:latin typeface="Arial" panose="020B0604020202020204" pitchFamily="34" charset="0"/>
                <a:cs typeface="Arial" panose="020B0604020202020204" pitchFamily="34" charset="0"/>
              </a:rPr>
              <a:t>de información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978" y="2294877"/>
            <a:ext cx="1213613" cy="1122153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591" y="3238720"/>
            <a:ext cx="3905794" cy="25293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Rectángulo 7"/>
          <p:cNvSpPr/>
          <p:nvPr/>
        </p:nvSpPr>
        <p:spPr>
          <a:xfrm>
            <a:off x="3347625" y="5713751"/>
            <a:ext cx="45977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Controlar y gestionar la </a:t>
            </a:r>
            <a:r>
              <a:rPr lang="es-CU" sz="2000" b="1" dirty="0">
                <a:latin typeface="Arial" panose="020B0604020202020204" pitchFamily="34" charset="0"/>
                <a:cs typeface="Arial" panose="020B0604020202020204" pitchFamily="34" charset="0"/>
              </a:rPr>
              <a:t>información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1 Flecha curvada hacia arriba"/>
          <p:cNvSpPr/>
          <p:nvPr/>
        </p:nvSpPr>
        <p:spPr bwMode="auto">
          <a:xfrm rot="3335390">
            <a:off x="2091024" y="4284943"/>
            <a:ext cx="1991520" cy="737101"/>
          </a:xfrm>
          <a:prstGeom prst="curvedUp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pPr>
              <a:buFont typeface="Times New Roman" pitchFamily="16" charset="0"/>
              <a:buNone/>
              <a:defRPr/>
            </a:pPr>
            <a:endParaRPr lang="en-US">
              <a:solidFill>
                <a:schemeClr val="bg1"/>
              </a:solidFill>
              <a:latin typeface="Times New Roman" pitchFamily="16" charset="0"/>
            </a:endParaRPr>
          </a:p>
        </p:txBody>
      </p:sp>
      <p:sp>
        <p:nvSpPr>
          <p:cNvPr id="10" name="1 Flecha curvada hacia arriba"/>
          <p:cNvSpPr/>
          <p:nvPr/>
        </p:nvSpPr>
        <p:spPr bwMode="auto">
          <a:xfrm rot="20059378" flipV="1">
            <a:off x="5607932" y="1972024"/>
            <a:ext cx="2468378" cy="769940"/>
          </a:xfrm>
          <a:prstGeom prst="curvedUp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pPr>
              <a:buFont typeface="Times New Roman" pitchFamily="16" charset="0"/>
              <a:buNone/>
              <a:defRPr/>
            </a:pPr>
            <a:endParaRPr lang="en-US">
              <a:solidFill>
                <a:schemeClr val="bg1"/>
              </a:solidFill>
              <a:latin typeface="Times New Roman" pitchFamily="16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7721872" y="4182565"/>
            <a:ext cx="2663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U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Trabajos de diploma</a:t>
            </a:r>
          </a:p>
        </p:txBody>
      </p:sp>
      <p:sp useBgFill="1">
        <p:nvSpPr>
          <p:cNvPr id="14" name="Datos 13"/>
          <p:cNvSpPr/>
          <p:nvPr/>
        </p:nvSpPr>
        <p:spPr>
          <a:xfrm>
            <a:off x="11277600" y="6232289"/>
            <a:ext cx="914400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4000" b="1" dirty="0" smtClean="0">
                <a:ln/>
                <a:latin typeface="Algerian" panose="04020705040A02060702" pitchFamily="82" charset="0"/>
              </a:rPr>
              <a:t>2</a:t>
            </a:r>
            <a:endParaRPr lang="en-US" sz="4000" b="1" dirty="0">
              <a:ln/>
              <a:latin typeface="Algerian" panose="04020705040A02060702" pitchFamily="82" charset="0"/>
            </a:endParaRP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362" y="2176685"/>
            <a:ext cx="2496672" cy="194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088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3788864" y="286774"/>
            <a:ext cx="8229600" cy="1252728"/>
          </a:xfrm>
        </p:spPr>
        <p:txBody>
          <a:bodyPr>
            <a:normAutofit/>
          </a:bodyPr>
          <a:lstStyle/>
          <a:p>
            <a:pPr algn="r"/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SITUACIÓN PROBLÉMICA</a:t>
            </a:r>
            <a:endParaRPr lang="es-E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10" name="Datos 9"/>
          <p:cNvSpPr/>
          <p:nvPr/>
        </p:nvSpPr>
        <p:spPr>
          <a:xfrm>
            <a:off x="11277600" y="6245352"/>
            <a:ext cx="914400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4000" b="1" dirty="0" smtClean="0">
                <a:ln/>
                <a:latin typeface="Algerian" panose="04020705040A02060702" pitchFamily="82" charset="0"/>
              </a:rPr>
              <a:t>3</a:t>
            </a:r>
            <a:endParaRPr lang="en-US" sz="4000" b="1" dirty="0">
              <a:ln/>
              <a:latin typeface="Algerian" panose="04020705040A02060702" pitchFamily="82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969414" y="2522387"/>
            <a:ext cx="8895384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000000"/>
                </a:solidFill>
                <a:latin typeface="Candara" panose="020E0502030303020204" pitchFamily="34" charset="0"/>
                <a:cs typeface="Arial" pitchFamily="34" charset="0"/>
              </a:rPr>
              <a:t>Información </a:t>
            </a:r>
            <a:r>
              <a:rPr lang="en-US" sz="3200" dirty="0" smtClean="0">
                <a:solidFill>
                  <a:srgbClr val="000000"/>
                </a:solidFill>
                <a:latin typeface="Candara" panose="020E0502030303020204" pitchFamily="34" charset="0"/>
                <a:cs typeface="Arial" pitchFamily="34" charset="0"/>
              </a:rPr>
              <a:t>dispersa</a:t>
            </a:r>
          </a:p>
          <a:p>
            <a:pPr marL="457200" lvl="0" indent="-457200" algn="just">
              <a:buFont typeface="Wingdings" panose="05000000000000000000" pitchFamily="2" charset="2"/>
              <a:buChar char="ü"/>
            </a:pPr>
            <a:endParaRPr lang="en-US" sz="3200" dirty="0" smtClean="0">
              <a:solidFill>
                <a:srgbClr val="000000"/>
              </a:solidFill>
              <a:latin typeface="Candara" panose="020E0502030303020204" pitchFamily="34" charset="0"/>
              <a:cs typeface="Arial" pitchFamily="34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ü"/>
            </a:pPr>
            <a:r>
              <a:rPr lang="es-ES" sz="3200" dirty="0">
                <a:latin typeface="Candara" panose="020E0502030303020204" pitchFamily="34" charset="0"/>
              </a:rPr>
              <a:t>Amplio volumen </a:t>
            </a:r>
            <a:r>
              <a:rPr lang="es-ES" sz="3200" dirty="0" smtClean="0">
                <a:latin typeface="Candara" panose="020E0502030303020204" pitchFamily="34" charset="0"/>
              </a:rPr>
              <a:t>de </a:t>
            </a:r>
            <a:r>
              <a:rPr lang="es-ES" sz="3200" dirty="0">
                <a:latin typeface="Candara" panose="020E0502030303020204" pitchFamily="34" charset="0"/>
              </a:rPr>
              <a:t>documentos </a:t>
            </a:r>
            <a:endParaRPr lang="es-ES" sz="3200" dirty="0" smtClean="0">
              <a:latin typeface="Candara" panose="020E0502030303020204" pitchFamily="34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ü"/>
            </a:pPr>
            <a:endParaRPr lang="es-ES" sz="3200" dirty="0" smtClean="0">
              <a:latin typeface="Candara" panose="020E050203030302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s-ES" sz="3200" dirty="0">
                <a:latin typeface="Candara" panose="020E0502030303020204" pitchFamily="34" charset="0"/>
              </a:rPr>
              <a:t>Información almacenada en documentos físicos</a:t>
            </a:r>
            <a:endParaRPr lang="es-MX" sz="3200" dirty="0">
              <a:latin typeface="Candara" panose="020E0502030303020204" pitchFamily="34" charset="0"/>
            </a:endParaRPr>
          </a:p>
          <a:p>
            <a:pPr lvl="0" algn="ctr"/>
            <a:endParaRPr lang="es-MX" dirty="0"/>
          </a:p>
          <a:p>
            <a:pPr lvl="0"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04715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3788864" y="286774"/>
            <a:ext cx="8229600" cy="1252728"/>
          </a:xfrm>
        </p:spPr>
        <p:txBody>
          <a:bodyPr>
            <a:normAutofit/>
          </a:bodyPr>
          <a:lstStyle/>
          <a:p>
            <a:pPr algn="r"/>
            <a:r>
              <a:rPr lang="es-E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PROBLEMA DE INVESTIGACIÓN</a:t>
            </a:r>
            <a:endParaRPr lang="es-E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788864" y="2723562"/>
            <a:ext cx="70676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3200" dirty="0" smtClean="0">
                <a:latin typeface="Candara" panose="020E0502030303020204" pitchFamily="34" charset="0"/>
              </a:rPr>
              <a:t>¿Insuficiencias en el manejo </a:t>
            </a:r>
            <a:r>
              <a:rPr lang="es-ES" sz="3200" dirty="0">
                <a:latin typeface="Candara" panose="020E0502030303020204" pitchFamily="34" charset="0"/>
              </a:rPr>
              <a:t>de la información </a:t>
            </a:r>
            <a:r>
              <a:rPr lang="es-CU" sz="3200" dirty="0" smtClean="0">
                <a:latin typeface="Candara" panose="020E0502030303020204" pitchFamily="34" charset="0"/>
              </a:rPr>
              <a:t>de </a:t>
            </a:r>
            <a:r>
              <a:rPr lang="en-US" sz="3200" dirty="0" smtClean="0">
                <a:latin typeface="Candara" panose="020E0502030303020204" pitchFamily="34" charset="0"/>
              </a:rPr>
              <a:t>los </a:t>
            </a:r>
            <a:r>
              <a:rPr lang="en-US" sz="3200" dirty="0" err="1" smtClean="0">
                <a:latin typeface="Candara" panose="020E0502030303020204" pitchFamily="34" charset="0"/>
              </a:rPr>
              <a:t>trabajos</a:t>
            </a:r>
            <a:r>
              <a:rPr lang="en-US" sz="3200" dirty="0" smtClean="0">
                <a:latin typeface="Candara" panose="020E0502030303020204" pitchFamily="34" charset="0"/>
              </a:rPr>
              <a:t> de diploma de la </a:t>
            </a:r>
            <a:r>
              <a:rPr lang="es-MX" sz="3200" dirty="0" smtClean="0">
                <a:latin typeface="Candara" panose="020E0502030303020204" pitchFamily="34" charset="0"/>
              </a:rPr>
              <a:t>Universidad </a:t>
            </a:r>
            <a:r>
              <a:rPr lang="es-MX" sz="3200" dirty="0">
                <a:latin typeface="Candara" panose="020E0502030303020204" pitchFamily="34" charset="0"/>
              </a:rPr>
              <a:t>de Ciego de </a:t>
            </a:r>
            <a:r>
              <a:rPr lang="es-MX" sz="3200" dirty="0" smtClean="0">
                <a:latin typeface="Candara" panose="020E0502030303020204" pitchFamily="34" charset="0"/>
              </a:rPr>
              <a:t>Ávila</a:t>
            </a:r>
            <a:r>
              <a:rPr lang="es-ES" sz="3200" dirty="0" smtClean="0">
                <a:latin typeface="Candara" panose="020E0502030303020204" pitchFamily="34" charset="0"/>
              </a:rPr>
              <a:t>?</a:t>
            </a:r>
            <a:endParaRPr lang="en-US" sz="3200" dirty="0">
              <a:latin typeface="Candara" panose="020E0502030303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38" y="1488207"/>
            <a:ext cx="3069772" cy="4532811"/>
          </a:xfrm>
          <a:prstGeom prst="rect">
            <a:avLst/>
          </a:prstGeom>
        </p:spPr>
      </p:pic>
      <p:sp useBgFill="1">
        <p:nvSpPr>
          <p:cNvPr id="7" name="Datos 6"/>
          <p:cNvSpPr/>
          <p:nvPr/>
        </p:nvSpPr>
        <p:spPr>
          <a:xfrm>
            <a:off x="11277600" y="6245352"/>
            <a:ext cx="914400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4000" b="1" dirty="0" smtClean="0">
                <a:ln/>
                <a:latin typeface="Algerian" panose="04020705040A02060702" pitchFamily="82" charset="0"/>
              </a:rPr>
              <a:t>4</a:t>
            </a:r>
            <a:endParaRPr lang="en-US" sz="4000" b="1" dirty="0">
              <a:ln/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043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3788864" y="286774"/>
            <a:ext cx="8229600" cy="1252728"/>
          </a:xfrm>
        </p:spPr>
        <p:txBody>
          <a:bodyPr>
            <a:normAutofit/>
          </a:bodyPr>
          <a:lstStyle/>
          <a:p>
            <a:pPr algn="r"/>
            <a:r>
              <a:rPr lang="es-E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POSIBLES CAUSAS</a:t>
            </a:r>
            <a:endParaRPr lang="es-E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831273" y="2247084"/>
            <a:ext cx="912321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ü"/>
            </a:pPr>
            <a:r>
              <a:rPr lang="es-ES" sz="3200" dirty="0">
                <a:latin typeface="Candara" panose="020E0502030303020204" pitchFamily="34" charset="0"/>
                <a:cs typeface="Arial" panose="020B0604020202020204" pitchFamily="34" charset="0"/>
              </a:rPr>
              <a:t>Búsqueda complicada</a:t>
            </a:r>
          </a:p>
          <a:p>
            <a:pPr marL="457200" lvl="0" indent="-457200" algn="just">
              <a:buFont typeface="Wingdings" panose="05000000000000000000" pitchFamily="2" charset="2"/>
              <a:buChar char="ü"/>
            </a:pPr>
            <a:endParaRPr lang="es-ES" sz="3200" dirty="0">
              <a:latin typeface="Candara" panose="020E0502030303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ü"/>
            </a:pPr>
            <a:r>
              <a:rPr lang="es-ES" sz="3200" dirty="0">
                <a:latin typeface="Candara" panose="020E0502030303020204" pitchFamily="34" charset="0"/>
                <a:cs typeface="Arial" panose="020B0604020202020204" pitchFamily="34" charset="0"/>
              </a:rPr>
              <a:t>Pérdida y deterioro de la información</a:t>
            </a: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endParaRPr lang="es-MX" sz="3200" dirty="0">
              <a:solidFill>
                <a:srgbClr val="000000"/>
              </a:solidFill>
              <a:latin typeface="Candara" panose="020E0502030303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ü"/>
            </a:pPr>
            <a:r>
              <a:rPr lang="es-ES_tradnl" sz="3200" dirty="0">
                <a:solidFill>
                  <a:srgbClr val="000000"/>
                </a:solidFill>
                <a:latin typeface="Candara" panose="020E0502030303020204" pitchFamily="34" charset="0"/>
                <a:cs typeface="Arial" panose="020B0604020202020204" pitchFamily="34" charset="0"/>
              </a:rPr>
              <a:t>Demora en el trabajo y entrega de informes</a:t>
            </a:r>
          </a:p>
          <a:p>
            <a:pPr marL="457200" lvl="0" indent="-457200" algn="just">
              <a:buFont typeface="Wingdings" panose="05000000000000000000" pitchFamily="2" charset="2"/>
              <a:buChar char="ü"/>
            </a:pPr>
            <a:endParaRPr lang="es-MX" sz="3200" dirty="0">
              <a:latin typeface="Candara" panose="020E0502030303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000000"/>
                </a:solidFill>
                <a:latin typeface="Candara" panose="020E0502030303020204" pitchFamily="34" charset="0"/>
                <a:cs typeface="Arial" panose="020B0604020202020204" pitchFamily="34" charset="0"/>
              </a:rPr>
              <a:t>Difícil manipulación de los datos</a:t>
            </a:r>
          </a:p>
        </p:txBody>
      </p:sp>
      <p:sp useBgFill="1">
        <p:nvSpPr>
          <p:cNvPr id="6" name="Datos 6"/>
          <p:cNvSpPr/>
          <p:nvPr/>
        </p:nvSpPr>
        <p:spPr>
          <a:xfrm>
            <a:off x="11277600" y="6245352"/>
            <a:ext cx="914400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4000" b="1" dirty="0" smtClean="0">
                <a:ln/>
                <a:latin typeface="Algerian" panose="04020705040A02060702" pitchFamily="82" charset="0"/>
              </a:rPr>
              <a:t>5</a:t>
            </a:r>
            <a:endParaRPr lang="en-US" sz="4000" b="1" dirty="0">
              <a:ln/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915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6400800" y="119971"/>
            <a:ext cx="5093140" cy="1252728"/>
          </a:xfrm>
        </p:spPr>
        <p:txBody>
          <a:bodyPr>
            <a:normAutofit/>
          </a:bodyPr>
          <a:lstStyle/>
          <a:p>
            <a:pPr algn="r"/>
            <a:r>
              <a:rPr lang="es-E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OBJETO DE ESTUDIO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1489166" y="2573383"/>
            <a:ext cx="87037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U" sz="3200" dirty="0">
                <a:latin typeface="Candara" panose="020E0502030303020204" pitchFamily="34" charset="0"/>
              </a:rPr>
              <a:t>P</a:t>
            </a:r>
            <a:r>
              <a:rPr lang="es-CU" sz="3200" dirty="0" smtClean="0">
                <a:latin typeface="Candara" panose="020E0502030303020204" pitchFamily="34" charset="0"/>
              </a:rPr>
              <a:t>roceso </a:t>
            </a:r>
            <a:r>
              <a:rPr lang="es-CU" sz="3200" dirty="0">
                <a:latin typeface="Candara" panose="020E0502030303020204" pitchFamily="34" charset="0"/>
              </a:rPr>
              <a:t>de gestión de información de las </a:t>
            </a:r>
            <a:r>
              <a:rPr lang="es-CU" sz="3200" dirty="0" smtClean="0">
                <a:latin typeface="Candara" panose="020E0502030303020204" pitchFamily="34" charset="0"/>
              </a:rPr>
              <a:t>tesis.</a:t>
            </a:r>
            <a:endParaRPr lang="en-US" sz="3200" dirty="0">
              <a:latin typeface="Candara" panose="020E0502030303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052" y="4062689"/>
            <a:ext cx="2501036" cy="25010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 useBgFill="1">
        <p:nvSpPr>
          <p:cNvPr id="7" name="Datos 6"/>
          <p:cNvSpPr/>
          <p:nvPr/>
        </p:nvSpPr>
        <p:spPr>
          <a:xfrm>
            <a:off x="11277600" y="6245352"/>
            <a:ext cx="914400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4000" b="1" dirty="0" smtClean="0">
                <a:ln/>
                <a:latin typeface="Algerian" panose="04020705040A02060702" pitchFamily="82" charset="0"/>
              </a:rPr>
              <a:t>6</a:t>
            </a:r>
            <a:endParaRPr lang="en-US" sz="4000" b="1" dirty="0">
              <a:ln/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269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6374674" y="176242"/>
            <a:ext cx="5062995" cy="1252728"/>
          </a:xfrm>
        </p:spPr>
        <p:txBody>
          <a:bodyPr>
            <a:normAutofit/>
          </a:bodyPr>
          <a:lstStyle/>
          <a:p>
            <a:pPr algn="r"/>
            <a:r>
              <a:rPr lang="es-E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GENERAL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1489166" y="2573383"/>
            <a:ext cx="87037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U" sz="3200" dirty="0">
                <a:latin typeface="Candara" panose="020E0502030303020204" pitchFamily="34" charset="0"/>
              </a:rPr>
              <a:t>D</a:t>
            </a:r>
            <a:r>
              <a:rPr lang="es-CU" sz="3200" dirty="0" smtClean="0">
                <a:latin typeface="Candara" panose="020E0502030303020204" pitchFamily="34" charset="0"/>
              </a:rPr>
              <a:t>esarrollar </a:t>
            </a:r>
            <a:r>
              <a:rPr lang="es-CU" sz="3200" dirty="0">
                <a:latin typeface="Candara" panose="020E0502030303020204" pitchFamily="34" charset="0"/>
              </a:rPr>
              <a:t>un sistema informático para la gestión de información de las </a:t>
            </a:r>
            <a:r>
              <a:rPr lang="es-CU" sz="3200" dirty="0" smtClean="0">
                <a:latin typeface="Candara" panose="020E0502030303020204" pitchFamily="34" charset="0"/>
              </a:rPr>
              <a:t>tesis.</a:t>
            </a:r>
            <a:endParaRPr lang="en-US" sz="3200" dirty="0">
              <a:latin typeface="Candara" panose="020E0502030303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100" y="4143043"/>
            <a:ext cx="2802141" cy="20497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 useBgFill="1">
        <p:nvSpPr>
          <p:cNvPr id="7" name="Datos 6"/>
          <p:cNvSpPr/>
          <p:nvPr/>
        </p:nvSpPr>
        <p:spPr>
          <a:xfrm>
            <a:off x="11277600" y="6245352"/>
            <a:ext cx="914400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4000" b="1" dirty="0">
                <a:ln/>
                <a:latin typeface="Algerian" panose="04020705040A02060702" pitchFamily="82" charset="0"/>
              </a:rPr>
              <a:t>7</a:t>
            </a:r>
            <a:endParaRPr lang="en-US" sz="4000" b="1" dirty="0">
              <a:ln/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66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7047912" y="204378"/>
            <a:ext cx="4586703" cy="1252728"/>
          </a:xfrm>
        </p:spPr>
        <p:txBody>
          <a:bodyPr>
            <a:normAutofit/>
          </a:bodyPr>
          <a:lstStyle/>
          <a:p>
            <a:pPr algn="r"/>
            <a:r>
              <a:rPr lang="es-E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CAMPO DE ACCIÓN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1489167" y="2656784"/>
            <a:ext cx="93268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3200" dirty="0" smtClean="0">
                <a:latin typeface="Candara" panose="020E0502030303020204" pitchFamily="34" charset="0"/>
              </a:rPr>
              <a:t>Las </a:t>
            </a:r>
            <a:r>
              <a:rPr lang="es-ES" sz="3200" dirty="0">
                <a:latin typeface="Candara" panose="020E0502030303020204" pitchFamily="34" charset="0"/>
              </a:rPr>
              <a:t>herramientas informáticas que se utilizan en el proceso </a:t>
            </a:r>
            <a:r>
              <a:rPr lang="es-ES" sz="3200" dirty="0" smtClean="0">
                <a:latin typeface="Candara" panose="020E0502030303020204" pitchFamily="34" charset="0"/>
              </a:rPr>
              <a:t>de gestión de las tesis.</a:t>
            </a:r>
            <a:endParaRPr lang="en-US" sz="3200" dirty="0">
              <a:latin typeface="Candara" panose="020E0502030303020204" pitchFamily="34" charset="0"/>
            </a:endParaRPr>
          </a:p>
        </p:txBody>
      </p:sp>
      <p:sp useBgFill="1">
        <p:nvSpPr>
          <p:cNvPr id="6" name="Datos 5"/>
          <p:cNvSpPr/>
          <p:nvPr/>
        </p:nvSpPr>
        <p:spPr>
          <a:xfrm>
            <a:off x="11277600" y="6245352"/>
            <a:ext cx="914400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4000" b="1" dirty="0">
                <a:ln/>
                <a:latin typeface="Algerian" panose="04020705040A02060702" pitchFamily="82" charset="0"/>
              </a:rPr>
              <a:t>8</a:t>
            </a:r>
            <a:endParaRPr lang="en-US" sz="4000" b="1" dirty="0">
              <a:ln/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95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387737" y="618239"/>
            <a:ext cx="5496157" cy="563563"/>
          </a:xfrm>
        </p:spPr>
        <p:txBody>
          <a:bodyPr>
            <a:noAutofit/>
          </a:bodyPr>
          <a:lstStyle/>
          <a:p>
            <a:pPr algn="r" eaLnBrk="1" hangingPunct="1"/>
            <a:r>
              <a:rPr lang="es-E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TECNOLOGÍAS A UTILIZAR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775700" y="1601924"/>
            <a:ext cx="2595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Metodología</a:t>
            </a:r>
          </a:p>
        </p:txBody>
      </p:sp>
      <p:sp>
        <p:nvSpPr>
          <p:cNvPr id="6" name="Rectángulo 5"/>
          <p:cNvSpPr/>
          <p:nvPr/>
        </p:nvSpPr>
        <p:spPr>
          <a:xfrm>
            <a:off x="4218366" y="4274791"/>
            <a:ext cx="28055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Herramientas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47" y="2186699"/>
            <a:ext cx="2861087" cy="215679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034" y="4859566"/>
            <a:ext cx="1982045" cy="1758358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480" y="4859566"/>
            <a:ext cx="1982045" cy="17583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Rectángulo 9"/>
          <p:cNvSpPr/>
          <p:nvPr/>
        </p:nvSpPr>
        <p:spPr>
          <a:xfrm>
            <a:off x="7453230" y="1601924"/>
            <a:ext cx="23727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latin typeface="Arial" pitchFamily="34" charset="0"/>
                <a:cs typeface="Arial" pitchFamily="34" charset="0"/>
              </a:rPr>
              <a:t>Framework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622" y="2392099"/>
            <a:ext cx="2613979" cy="13069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 useBgFill="1">
        <p:nvSpPr>
          <p:cNvPr id="12" name="Datos 11"/>
          <p:cNvSpPr/>
          <p:nvPr/>
        </p:nvSpPr>
        <p:spPr>
          <a:xfrm>
            <a:off x="10737669" y="6245352"/>
            <a:ext cx="1454331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3600" b="1" dirty="0">
                <a:ln/>
                <a:latin typeface="Algerian" panose="04020705040A02060702" pitchFamily="82" charset="0"/>
              </a:rPr>
              <a:t>9</a:t>
            </a:r>
            <a:endParaRPr lang="en-US" sz="3600" b="1" dirty="0">
              <a:ln/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26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752491" y="618239"/>
            <a:ext cx="5131403" cy="563563"/>
          </a:xfrm>
        </p:spPr>
        <p:txBody>
          <a:bodyPr>
            <a:noAutofit/>
          </a:bodyPr>
          <a:lstStyle/>
          <a:p>
            <a:pPr algn="r" eaLnBrk="1" hangingPunct="1"/>
            <a:r>
              <a:rPr lang="es-E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TECNOLOGÍAS A UTILIZAR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2598083" y="2200891"/>
            <a:ext cx="67201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Sistema Gestor de Base de Datos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573" y="2785666"/>
            <a:ext cx="3559126" cy="12376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Rectángulo 6"/>
          <p:cNvSpPr/>
          <p:nvPr/>
        </p:nvSpPr>
        <p:spPr>
          <a:xfrm>
            <a:off x="4853506" y="4456424"/>
            <a:ext cx="22092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Lenguajes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083" y="5275798"/>
            <a:ext cx="1271016" cy="12751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357" y="5275799"/>
            <a:ext cx="1271016" cy="12751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631" y="5275795"/>
            <a:ext cx="1271016" cy="127519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905" y="5279886"/>
            <a:ext cx="1271015" cy="12710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 useBgFill="1">
        <p:nvSpPr>
          <p:cNvPr id="12" name="Datos 11"/>
          <p:cNvSpPr/>
          <p:nvPr/>
        </p:nvSpPr>
        <p:spPr>
          <a:xfrm>
            <a:off x="10737669" y="6245352"/>
            <a:ext cx="1454331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3600" b="1" dirty="0" smtClean="0">
                <a:ln/>
                <a:latin typeface="Algerian" panose="04020705040A02060702" pitchFamily="82" charset="0"/>
              </a:rPr>
              <a:t>10</a:t>
            </a:r>
            <a:endParaRPr lang="en-US" sz="3600" b="1" dirty="0">
              <a:ln/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877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752491" y="618239"/>
            <a:ext cx="5131403" cy="563563"/>
          </a:xfrm>
        </p:spPr>
        <p:txBody>
          <a:bodyPr>
            <a:noAutofit/>
          </a:bodyPr>
          <a:lstStyle/>
          <a:p>
            <a:pPr algn="r" eaLnBrk="1" hangingPunct="1"/>
            <a:r>
              <a:rPr lang="es-E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REQUISITOS FUNCIONALES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3" name="Datos 11"/>
          <p:cNvSpPr/>
          <p:nvPr/>
        </p:nvSpPr>
        <p:spPr>
          <a:xfrm>
            <a:off x="10737669" y="6245352"/>
            <a:ext cx="1454331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3600" b="1" dirty="0" smtClean="0">
                <a:ln/>
                <a:latin typeface="Algerian" panose="04020705040A02060702" pitchFamily="82" charset="0"/>
              </a:rPr>
              <a:t>11</a:t>
            </a:r>
            <a:endParaRPr lang="en-US" sz="3600" b="1" dirty="0">
              <a:ln/>
              <a:latin typeface="Algerian" panose="04020705040A02060702" pitchFamily="82" charset="0"/>
            </a:endParaRPr>
          </a:p>
        </p:txBody>
      </p:sp>
      <p:sp>
        <p:nvSpPr>
          <p:cNvPr id="2" name="1 CuadroTexto"/>
          <p:cNvSpPr txBox="1"/>
          <p:nvPr/>
        </p:nvSpPr>
        <p:spPr>
          <a:xfrm>
            <a:off x="2299063" y="1698170"/>
            <a:ext cx="86345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800" dirty="0" err="1" smtClean="0"/>
              <a:t>Gestionar</a:t>
            </a:r>
            <a:r>
              <a:rPr lang="en-US" sz="2800" dirty="0" smtClean="0"/>
              <a:t> </a:t>
            </a:r>
            <a:r>
              <a:rPr lang="en-US" sz="2800" dirty="0" err="1" smtClean="0"/>
              <a:t>facultad</a:t>
            </a:r>
            <a:endParaRPr lang="en-US" sz="2800" dirty="0" smtClean="0"/>
          </a:p>
          <a:p>
            <a:pPr marL="285750" indent="-285750">
              <a:buFont typeface="Wingdings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800" dirty="0" err="1" smtClean="0"/>
              <a:t>Gestionar</a:t>
            </a:r>
            <a:r>
              <a:rPr lang="en-US" sz="2800" dirty="0" smtClean="0"/>
              <a:t> </a:t>
            </a:r>
            <a:r>
              <a:rPr lang="en-US" sz="2800" dirty="0" err="1" smtClean="0"/>
              <a:t>usuario</a:t>
            </a:r>
            <a:endParaRPr lang="en-US" sz="2800" dirty="0" smtClean="0"/>
          </a:p>
          <a:p>
            <a:pPr marL="285750" indent="-285750">
              <a:buFont typeface="Wingdings" pitchFamily="2" charset="2"/>
              <a:buChar char="Ø"/>
            </a:pPr>
            <a:endParaRPr lang="en-US" sz="2800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800" dirty="0" err="1" smtClean="0"/>
              <a:t>Gestionar</a:t>
            </a:r>
            <a:r>
              <a:rPr lang="en-US" sz="2800" dirty="0" smtClean="0"/>
              <a:t>  </a:t>
            </a:r>
            <a:r>
              <a:rPr lang="en-US" sz="2800" dirty="0" err="1" smtClean="0"/>
              <a:t>tesis</a:t>
            </a:r>
            <a:endParaRPr lang="en-US" sz="2800" dirty="0" smtClean="0"/>
          </a:p>
          <a:p>
            <a:pPr marL="285750" indent="-285750">
              <a:buFont typeface="Wingdings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800" dirty="0" err="1" smtClean="0"/>
              <a:t>Gestionar</a:t>
            </a:r>
            <a:r>
              <a:rPr lang="en-US" sz="2800" dirty="0" smtClean="0"/>
              <a:t> </a:t>
            </a:r>
            <a:r>
              <a:rPr lang="en-US" sz="2800" dirty="0" err="1" smtClean="0"/>
              <a:t>fundamentación</a:t>
            </a:r>
            <a:endParaRPr lang="en-US" sz="2800" dirty="0" smtClean="0"/>
          </a:p>
          <a:p>
            <a:pPr marL="285750" indent="-285750">
              <a:buFont typeface="Wingdings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800" dirty="0" err="1" smtClean="0"/>
              <a:t>Gestionar</a:t>
            </a:r>
            <a:r>
              <a:rPr lang="en-US" sz="2800" dirty="0" smtClean="0"/>
              <a:t> </a:t>
            </a:r>
            <a:r>
              <a:rPr lang="en-US" sz="2800" dirty="0" err="1" smtClean="0"/>
              <a:t>corte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2812176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5818909" y="618239"/>
            <a:ext cx="6064985" cy="563563"/>
          </a:xfrm>
        </p:spPr>
        <p:txBody>
          <a:bodyPr>
            <a:noAutofit/>
          </a:bodyPr>
          <a:lstStyle/>
          <a:p>
            <a:pPr algn="r" eaLnBrk="1" hangingPunct="1"/>
            <a:r>
              <a:rPr lang="es-E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REQUISITOS NO FUNCIONALES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3" name="Datos 11"/>
          <p:cNvSpPr/>
          <p:nvPr/>
        </p:nvSpPr>
        <p:spPr>
          <a:xfrm>
            <a:off x="10737669" y="6245352"/>
            <a:ext cx="1454331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3600" b="1" dirty="0" smtClean="0">
                <a:ln/>
                <a:latin typeface="Algerian" panose="04020705040A02060702" pitchFamily="82" charset="0"/>
              </a:rPr>
              <a:t>12</a:t>
            </a:r>
            <a:endParaRPr lang="en-US" sz="3600" b="1" dirty="0">
              <a:ln/>
              <a:latin typeface="Algerian" panose="04020705040A02060702" pitchFamily="82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2103121" y="1698170"/>
            <a:ext cx="863454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800" dirty="0" err="1" smtClean="0"/>
              <a:t>Sistema</a:t>
            </a:r>
            <a:r>
              <a:rPr lang="en-US" sz="2800" dirty="0" smtClean="0"/>
              <a:t> </a:t>
            </a:r>
            <a:r>
              <a:rPr lang="en-US" sz="2800" dirty="0" err="1" smtClean="0"/>
              <a:t>disponible</a:t>
            </a:r>
            <a:r>
              <a:rPr lang="en-US" sz="2800" dirty="0" smtClean="0"/>
              <a:t> en </a:t>
            </a:r>
            <a:r>
              <a:rPr lang="en-US" sz="2800" dirty="0" err="1" smtClean="0"/>
              <a:t>todo</a:t>
            </a:r>
            <a:r>
              <a:rPr lang="en-US" sz="2800" dirty="0" smtClean="0"/>
              <a:t> </a:t>
            </a:r>
            <a:r>
              <a:rPr lang="en-US" sz="2800" dirty="0" err="1" smtClean="0"/>
              <a:t>momento</a:t>
            </a:r>
            <a:endParaRPr lang="en-US" sz="2800" dirty="0" smtClean="0"/>
          </a:p>
          <a:p>
            <a:pPr marL="285750" indent="-285750">
              <a:buFont typeface="Wingdings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itchFamily="2" charset="2"/>
              <a:buChar char="Ø"/>
            </a:pPr>
            <a:r>
              <a:rPr lang="es-ES" sz="2800" dirty="0" smtClean="0"/>
              <a:t>Control </a:t>
            </a:r>
            <a:r>
              <a:rPr lang="es-ES" sz="2800" dirty="0"/>
              <a:t>de acceso basado en </a:t>
            </a:r>
            <a:r>
              <a:rPr lang="es-ES" sz="2800" dirty="0" smtClean="0"/>
              <a:t>roles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800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s-ES" sz="2800" dirty="0"/>
              <a:t>U</a:t>
            </a:r>
            <a:r>
              <a:rPr lang="es-ES" sz="2800" dirty="0" smtClean="0"/>
              <a:t>tilizable </a:t>
            </a:r>
            <a:r>
              <a:rPr lang="es-ES" sz="2800" dirty="0"/>
              <a:t>por personal sin conocimientos avanzados en </a:t>
            </a:r>
            <a:r>
              <a:rPr lang="es-ES" sz="2800" dirty="0" smtClean="0"/>
              <a:t>informática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800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s-ES" sz="2800" dirty="0"/>
              <a:t>I</a:t>
            </a:r>
            <a:r>
              <a:rPr lang="es-ES" sz="2800" dirty="0" smtClean="0"/>
              <a:t>mplementado </a:t>
            </a:r>
            <a:r>
              <a:rPr lang="es-ES" sz="2800" dirty="0"/>
              <a:t>con tecnologías que no suponen un gasto adicional al desarrollo del software</a:t>
            </a:r>
            <a:endParaRPr lang="en-US" sz="2800" dirty="0"/>
          </a:p>
          <a:p>
            <a:pPr marL="285750" indent="-285750">
              <a:buFont typeface="Wingdings" pitchFamily="2" charset="2"/>
              <a:buChar char="Ø"/>
            </a:pP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59984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389121" y="117561"/>
            <a:ext cx="7494774" cy="563563"/>
          </a:xfrm>
        </p:spPr>
        <p:txBody>
          <a:bodyPr>
            <a:noAutofit/>
          </a:bodyPr>
          <a:lstStyle/>
          <a:p>
            <a:pPr algn="r" eaLnBrk="1" hangingPunct="1"/>
            <a:r>
              <a:rPr lang="es-E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Diagrama físico de la base de datos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9" name="Datos 8"/>
          <p:cNvSpPr/>
          <p:nvPr/>
        </p:nvSpPr>
        <p:spPr>
          <a:xfrm>
            <a:off x="10737669" y="6245352"/>
            <a:ext cx="1454331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3600" b="1" dirty="0" smtClean="0">
                <a:ln/>
                <a:latin typeface="Algerian" panose="04020705040A02060702" pitchFamily="82" charset="0"/>
              </a:rPr>
              <a:t>13</a:t>
            </a:r>
            <a:endParaRPr lang="en-US" sz="3600" b="1" dirty="0">
              <a:ln/>
              <a:latin typeface="Algerian" panose="04020705040A02060702" pitchFamily="82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2580"/>
            <a:ext cx="12192000" cy="5562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0181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389121" y="117561"/>
            <a:ext cx="7494774" cy="563563"/>
          </a:xfrm>
        </p:spPr>
        <p:txBody>
          <a:bodyPr>
            <a:noAutofit/>
          </a:bodyPr>
          <a:lstStyle/>
          <a:p>
            <a:pPr algn="r" eaLnBrk="1" hangingPunct="1"/>
            <a:r>
              <a:rPr lang="es-E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Diagrama físico de la base de datos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9" name="Datos 8"/>
          <p:cNvSpPr/>
          <p:nvPr/>
        </p:nvSpPr>
        <p:spPr>
          <a:xfrm>
            <a:off x="10737669" y="6245352"/>
            <a:ext cx="1454331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3600" b="1" dirty="0" smtClean="0">
                <a:ln/>
                <a:solidFill>
                  <a:srgbClr val="FFC000"/>
                </a:solidFill>
                <a:latin typeface="Algerian" panose="04020705040A02060702" pitchFamily="82" charset="0"/>
              </a:rPr>
              <a:t>14</a:t>
            </a:r>
            <a:endParaRPr lang="en-US" sz="3600" b="1" dirty="0">
              <a:ln/>
              <a:solidFill>
                <a:srgbClr val="FFC000"/>
              </a:solidFill>
              <a:latin typeface="Algerian" panose="04020705040A02060702" pitchFamily="82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2732"/>
            <a:ext cx="12192000" cy="5472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748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5818909" y="618239"/>
            <a:ext cx="6064985" cy="563563"/>
          </a:xfrm>
        </p:spPr>
        <p:txBody>
          <a:bodyPr>
            <a:noAutofit/>
          </a:bodyPr>
          <a:lstStyle/>
          <a:p>
            <a:pPr algn="r" eaLnBrk="1" hangingPunct="1"/>
            <a:r>
              <a:rPr lang="es-E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PATRÓN DE DISEÑO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3" name="Datos 11"/>
          <p:cNvSpPr/>
          <p:nvPr/>
        </p:nvSpPr>
        <p:spPr>
          <a:xfrm>
            <a:off x="10737669" y="6245352"/>
            <a:ext cx="1454331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3600" b="1" dirty="0" smtClean="0">
                <a:ln/>
                <a:latin typeface="Algerian" panose="04020705040A02060702" pitchFamily="82" charset="0"/>
              </a:rPr>
              <a:t>15</a:t>
            </a:r>
            <a:endParaRPr lang="en-US" sz="3600" b="1" dirty="0">
              <a:ln/>
              <a:latin typeface="Algerian" panose="04020705040A02060702" pitchFamily="82" charset="0"/>
            </a:endParaRPr>
          </a:p>
        </p:txBody>
      </p:sp>
      <p:pic>
        <p:nvPicPr>
          <p:cNvPr id="5" name="4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097" y="1465643"/>
            <a:ext cx="9627326" cy="496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519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5818909" y="618239"/>
            <a:ext cx="6064985" cy="563563"/>
          </a:xfrm>
        </p:spPr>
        <p:txBody>
          <a:bodyPr>
            <a:noAutofit/>
          </a:bodyPr>
          <a:lstStyle/>
          <a:p>
            <a:pPr algn="r" eaLnBrk="1" hangingPunct="1"/>
            <a:r>
              <a:rPr lang="es-E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SEGURIDAD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3" name="Datos 11"/>
          <p:cNvSpPr/>
          <p:nvPr/>
        </p:nvSpPr>
        <p:spPr>
          <a:xfrm>
            <a:off x="10737669" y="6245352"/>
            <a:ext cx="1454331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3600" b="1" dirty="0" smtClean="0">
                <a:ln/>
                <a:latin typeface="Algerian" panose="04020705040A02060702" pitchFamily="82" charset="0"/>
              </a:rPr>
              <a:t>16</a:t>
            </a:r>
            <a:endParaRPr lang="en-US" sz="3600" b="1" dirty="0">
              <a:ln/>
              <a:latin typeface="Algerian" panose="04020705040A02060702" pitchFamily="82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2103121" y="1577431"/>
            <a:ext cx="86345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s-ES" sz="2800" dirty="0" err="1" smtClean="0"/>
              <a:t>Login</a:t>
            </a:r>
            <a:r>
              <a:rPr lang="es-ES" sz="2800" dirty="0" smtClean="0"/>
              <a:t> con credenciales </a:t>
            </a:r>
            <a:r>
              <a:rPr lang="es-ES" sz="2800" dirty="0"/>
              <a:t>de manera correcta para acceder a </a:t>
            </a:r>
            <a:r>
              <a:rPr lang="es-ES" sz="2800" dirty="0" smtClean="0"/>
              <a:t>funcionalidades protegidas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itchFamily="2" charset="2"/>
              <a:buChar char="Ø"/>
            </a:pPr>
            <a:r>
              <a:rPr lang="es-ES" sz="2800" dirty="0" smtClean="0"/>
              <a:t>Algoritmo </a:t>
            </a:r>
            <a:r>
              <a:rPr lang="es-ES" sz="2800" dirty="0"/>
              <a:t>de </a:t>
            </a:r>
            <a:r>
              <a:rPr lang="es-ES" sz="2800" dirty="0" err="1"/>
              <a:t>hashing</a:t>
            </a:r>
            <a:r>
              <a:rPr lang="es-ES" sz="2800" dirty="0"/>
              <a:t> </a:t>
            </a:r>
            <a:r>
              <a:rPr lang="es-ES" sz="2800" dirty="0" smtClean="0"/>
              <a:t>seguro para contraseñas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800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s-ES" sz="2800" dirty="0" smtClean="0"/>
              <a:t>Consultas de </a:t>
            </a:r>
            <a:r>
              <a:rPr lang="es-ES" sz="2800" dirty="0"/>
              <a:t>forma segura a través del ORM </a:t>
            </a:r>
            <a:r>
              <a:rPr lang="es-ES" sz="2800" dirty="0" err="1" smtClean="0"/>
              <a:t>Eloquent</a:t>
            </a:r>
            <a:endParaRPr lang="es-ES" sz="2800" dirty="0" smtClean="0"/>
          </a:p>
          <a:p>
            <a:pPr marL="285750" indent="-285750">
              <a:buFont typeface="Wingdings" pitchFamily="2" charset="2"/>
              <a:buChar char="Ø"/>
            </a:pPr>
            <a:endParaRPr lang="en-US" sz="2800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s-ES" sz="2800" dirty="0" smtClean="0"/>
              <a:t>Defensa contra </a:t>
            </a:r>
            <a:r>
              <a:rPr lang="es-ES" sz="2800" dirty="0"/>
              <a:t>Cross-</a:t>
            </a:r>
            <a:r>
              <a:rPr lang="es-ES" sz="2800" dirty="0" err="1"/>
              <a:t>Site</a:t>
            </a:r>
            <a:r>
              <a:rPr lang="es-ES" sz="2800" dirty="0"/>
              <a:t> </a:t>
            </a:r>
            <a:r>
              <a:rPr lang="es-ES" sz="2800" dirty="0" err="1"/>
              <a:t>Request</a:t>
            </a:r>
            <a:r>
              <a:rPr lang="es-ES" sz="2800" dirty="0"/>
              <a:t> </a:t>
            </a:r>
            <a:r>
              <a:rPr lang="es-ES" sz="2800" dirty="0" err="1"/>
              <a:t>Forgery</a:t>
            </a:r>
            <a:r>
              <a:rPr lang="es-ES" sz="2800" dirty="0"/>
              <a:t> (CSRF) </a:t>
            </a:r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862"/>
            <a:ext cx="1789611" cy="126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5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389121" y="117561"/>
            <a:ext cx="7494774" cy="563563"/>
          </a:xfrm>
        </p:spPr>
        <p:txBody>
          <a:bodyPr>
            <a:noAutofit/>
          </a:bodyPr>
          <a:lstStyle/>
          <a:p>
            <a:pPr algn="r" eaLnBrk="1" hangingPunct="1"/>
            <a:r>
              <a:rPr lang="es-E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Interfaces del sistema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6" name="Datos 5"/>
          <p:cNvSpPr/>
          <p:nvPr/>
        </p:nvSpPr>
        <p:spPr>
          <a:xfrm>
            <a:off x="10737669" y="6245352"/>
            <a:ext cx="1454331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3600" b="1" dirty="0" smtClean="0">
                <a:ln/>
                <a:latin typeface="Algerian" panose="04020705040A02060702" pitchFamily="82" charset="0"/>
              </a:rPr>
              <a:t>17</a:t>
            </a:r>
            <a:endParaRPr lang="en-US" sz="3600" b="1" dirty="0">
              <a:ln/>
              <a:latin typeface="Algerian" panose="04020705040A02060702" pitchFamily="82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75010" y="1240969"/>
            <a:ext cx="6054746" cy="4767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7914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389121" y="117561"/>
            <a:ext cx="7494774" cy="563563"/>
          </a:xfrm>
        </p:spPr>
        <p:txBody>
          <a:bodyPr>
            <a:noAutofit/>
          </a:bodyPr>
          <a:lstStyle/>
          <a:p>
            <a:pPr algn="r" eaLnBrk="1" hangingPunct="1"/>
            <a:r>
              <a:rPr lang="es-E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Interfaces del sistema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6" name="Datos 5"/>
          <p:cNvSpPr/>
          <p:nvPr/>
        </p:nvSpPr>
        <p:spPr>
          <a:xfrm>
            <a:off x="10737669" y="6245352"/>
            <a:ext cx="1454331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3600" b="1" dirty="0" smtClean="0">
                <a:ln/>
                <a:latin typeface="Algerian" panose="04020705040A02060702" pitchFamily="82" charset="0"/>
              </a:rPr>
              <a:t>18</a:t>
            </a:r>
            <a:endParaRPr lang="en-US" sz="3600" b="1" dirty="0">
              <a:ln/>
              <a:latin typeface="Algerian" panose="04020705040A02060702" pitchFamily="82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770317"/>
            <a:ext cx="12192000" cy="5408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0672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389121" y="117561"/>
            <a:ext cx="7494774" cy="563563"/>
          </a:xfrm>
        </p:spPr>
        <p:txBody>
          <a:bodyPr>
            <a:noAutofit/>
          </a:bodyPr>
          <a:lstStyle/>
          <a:p>
            <a:pPr algn="r" eaLnBrk="1" hangingPunct="1"/>
            <a:r>
              <a:rPr lang="es-E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Interfaces del sistema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6" name="Datos 5"/>
          <p:cNvSpPr/>
          <p:nvPr/>
        </p:nvSpPr>
        <p:spPr>
          <a:xfrm>
            <a:off x="10737669" y="6245352"/>
            <a:ext cx="1454331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3600" b="1" dirty="0" smtClean="0">
                <a:ln/>
                <a:solidFill>
                  <a:srgbClr val="FFC000"/>
                </a:solidFill>
                <a:latin typeface="Algerian" panose="04020705040A02060702" pitchFamily="82" charset="0"/>
              </a:rPr>
              <a:t>19</a:t>
            </a:r>
            <a:endParaRPr lang="en-US" sz="3600" b="1" dirty="0">
              <a:ln/>
              <a:solidFill>
                <a:srgbClr val="FFC000"/>
              </a:solidFill>
              <a:latin typeface="Algerian" panose="04020705040A02060702" pitchFamily="8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8339"/>
            <a:ext cx="12192000" cy="5537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544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2802781" y="163844"/>
            <a:ext cx="8229600" cy="1252728"/>
          </a:xfrm>
        </p:spPr>
        <p:txBody>
          <a:bodyPr/>
          <a:lstStyle/>
          <a:p>
            <a:pPr algn="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4583" y="4860395"/>
            <a:ext cx="1914525" cy="19348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6" name="CuadroTexto 5"/>
          <p:cNvSpPr txBox="1"/>
          <p:nvPr/>
        </p:nvSpPr>
        <p:spPr>
          <a:xfrm>
            <a:off x="453477" y="2363371"/>
            <a:ext cx="113352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q"/>
            </a:pPr>
            <a:r>
              <a:rPr lang="es-ES" sz="3200" dirty="0">
                <a:latin typeface="Candara" panose="020E0502030303020204" pitchFamily="34" charset="0"/>
              </a:rPr>
              <a:t>El diagnóstico </a:t>
            </a:r>
            <a:r>
              <a:rPr lang="es-ES" sz="3200" dirty="0" smtClean="0">
                <a:latin typeface="Candara" panose="020E0502030303020204" pitchFamily="34" charset="0"/>
              </a:rPr>
              <a:t>realizado en la universidad </a:t>
            </a:r>
            <a:r>
              <a:rPr lang="es-ES" sz="3200" dirty="0">
                <a:latin typeface="Candara" panose="020E0502030303020204" pitchFamily="34" charset="0"/>
              </a:rPr>
              <a:t>permitió corroborar que en el proceso de gestión de información de </a:t>
            </a:r>
            <a:r>
              <a:rPr lang="es-ES" sz="3200" dirty="0" smtClean="0">
                <a:latin typeface="Candara" panose="020E0502030303020204" pitchFamily="34" charset="0"/>
              </a:rPr>
              <a:t>las tesis se </a:t>
            </a:r>
            <a:r>
              <a:rPr lang="es-ES" sz="3200" dirty="0">
                <a:latin typeface="Candara" panose="020E0502030303020204" pitchFamily="34" charset="0"/>
              </a:rPr>
              <a:t>manifiestan </a:t>
            </a:r>
            <a:r>
              <a:rPr lang="es-ES" sz="3200" dirty="0" smtClean="0">
                <a:latin typeface="Candara" panose="020E0502030303020204" pitchFamily="34" charset="0"/>
              </a:rPr>
              <a:t>dificultades. Se </a:t>
            </a:r>
            <a:r>
              <a:rPr lang="es-ES" sz="3200" dirty="0">
                <a:latin typeface="Candara" panose="020E0502030303020204" pitchFamily="34" charset="0"/>
              </a:rPr>
              <a:t>pudo constatar la necesidad de implementar una nueva </a:t>
            </a:r>
            <a:r>
              <a:rPr lang="es-ES" sz="3200" dirty="0" smtClean="0">
                <a:latin typeface="Candara" panose="020E0502030303020204" pitchFamily="34" charset="0"/>
              </a:rPr>
              <a:t>herramienta </a:t>
            </a:r>
            <a:r>
              <a:rPr lang="es-ES" sz="3200" dirty="0">
                <a:latin typeface="Candara" panose="020E0502030303020204" pitchFamily="34" charset="0"/>
              </a:rPr>
              <a:t>informática que optimice este </a:t>
            </a:r>
            <a:r>
              <a:rPr lang="es-ES" sz="3200" dirty="0" smtClean="0">
                <a:latin typeface="Candara" panose="020E0502030303020204" pitchFamily="34" charset="0"/>
              </a:rPr>
              <a:t>proceso.</a:t>
            </a:r>
            <a:endParaRPr lang="en-US" sz="3200" dirty="0">
              <a:latin typeface="Candara" panose="020E0502030303020204" pitchFamily="34" charset="0"/>
            </a:endParaRPr>
          </a:p>
        </p:txBody>
      </p:sp>
      <p:sp useBgFill="1">
        <p:nvSpPr>
          <p:cNvPr id="8" name="Datos 7"/>
          <p:cNvSpPr/>
          <p:nvPr/>
        </p:nvSpPr>
        <p:spPr>
          <a:xfrm>
            <a:off x="10737669" y="6245352"/>
            <a:ext cx="1454331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3600" b="1" dirty="0" smtClean="0">
                <a:ln/>
                <a:latin typeface="Algerian" panose="04020705040A02060702" pitchFamily="82" charset="0"/>
              </a:rPr>
              <a:t>20</a:t>
            </a:r>
            <a:endParaRPr lang="en-US" sz="3600" b="1" dirty="0">
              <a:ln/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35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2802781" y="163844"/>
            <a:ext cx="8229600" cy="1252728"/>
          </a:xfrm>
        </p:spPr>
        <p:txBody>
          <a:bodyPr/>
          <a:lstStyle/>
          <a:p>
            <a:pPr algn="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4583" y="4860395"/>
            <a:ext cx="1914525" cy="19348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6" name="CuadroTexto 5"/>
          <p:cNvSpPr txBox="1"/>
          <p:nvPr/>
        </p:nvSpPr>
        <p:spPr>
          <a:xfrm>
            <a:off x="316026" y="2553689"/>
            <a:ext cx="112345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q"/>
            </a:pPr>
            <a:r>
              <a:rPr lang="es-ES_tradnl" sz="3200" dirty="0">
                <a:latin typeface="Candara" panose="020E0502030303020204" pitchFamily="34" charset="0"/>
              </a:rPr>
              <a:t>Se trataron todos los elementos para la selección de las tecnologías y herramientas, </a:t>
            </a:r>
            <a:r>
              <a:rPr lang="es-ES_tradnl" sz="3200" dirty="0" smtClean="0">
                <a:latin typeface="Candara" panose="020E0502030303020204" pitchFamily="34" charset="0"/>
              </a:rPr>
              <a:t>que </a:t>
            </a:r>
            <a:r>
              <a:rPr lang="es-ES_tradnl" sz="3200" dirty="0">
                <a:latin typeface="Candara" panose="020E0502030303020204" pitchFamily="34" charset="0"/>
              </a:rPr>
              <a:t>permitieron el diseño e implementación del </a:t>
            </a:r>
            <a:r>
              <a:rPr lang="es-ES_tradnl" sz="3200" dirty="0" smtClean="0">
                <a:latin typeface="Candara" panose="020E0502030303020204" pitchFamily="34" charset="0"/>
              </a:rPr>
              <a:t>sistema propuesto, </a:t>
            </a:r>
            <a:r>
              <a:rPr lang="es-ES_tradnl" sz="3200" dirty="0">
                <a:latin typeface="Candara" panose="020E0502030303020204" pitchFamily="34" charset="0"/>
              </a:rPr>
              <a:t>permitiendo demostrar que la selección obtenida logra mayor usabilidad y fiabilidad del sistema</a:t>
            </a:r>
            <a:r>
              <a:rPr lang="es-ES_tradnl" sz="3200" dirty="0" smtClean="0">
                <a:latin typeface="Candara" panose="020E0502030303020204" pitchFamily="34" charset="0"/>
              </a:rPr>
              <a:t>.</a:t>
            </a:r>
            <a:endParaRPr lang="es-DO" sz="3200" dirty="0">
              <a:latin typeface="Candara" panose="020E0502030303020204" pitchFamily="34" charset="0"/>
            </a:endParaRPr>
          </a:p>
        </p:txBody>
      </p:sp>
      <p:sp useBgFill="1">
        <p:nvSpPr>
          <p:cNvPr id="8" name="Datos 7"/>
          <p:cNvSpPr/>
          <p:nvPr/>
        </p:nvSpPr>
        <p:spPr>
          <a:xfrm>
            <a:off x="10737669" y="6245352"/>
            <a:ext cx="1454331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3600" b="1" dirty="0" smtClean="0">
                <a:ln/>
                <a:latin typeface="Algerian" panose="04020705040A02060702" pitchFamily="82" charset="0"/>
              </a:rPr>
              <a:t>21</a:t>
            </a:r>
            <a:endParaRPr lang="en-US" sz="3600" b="1" dirty="0">
              <a:ln/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77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2802781" y="163844"/>
            <a:ext cx="8229600" cy="1252728"/>
          </a:xfrm>
        </p:spPr>
        <p:txBody>
          <a:bodyPr/>
          <a:lstStyle/>
          <a:p>
            <a:pPr algn="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4583" y="4860395"/>
            <a:ext cx="1914525" cy="19348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6" name="CuadroTexto 5"/>
          <p:cNvSpPr txBox="1"/>
          <p:nvPr/>
        </p:nvSpPr>
        <p:spPr>
          <a:xfrm>
            <a:off x="316026" y="2254851"/>
            <a:ext cx="1123455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q"/>
            </a:pPr>
            <a:r>
              <a:rPr lang="es-ES" sz="3200" dirty="0">
                <a:latin typeface="Candara" panose="020E0502030303020204" pitchFamily="34" charset="0"/>
              </a:rPr>
              <a:t>Se definieron los requisitos tanto funcionales como no funcional, imprescindibles para la aplicación de la metodología ágil </a:t>
            </a:r>
            <a:r>
              <a:rPr lang="es-ES" sz="3200" i="1" dirty="0">
                <a:latin typeface="Candara" panose="020E0502030303020204" pitchFamily="34" charset="0"/>
              </a:rPr>
              <a:t>Extreme Programming</a:t>
            </a:r>
            <a:r>
              <a:rPr lang="es-ES" sz="3200" dirty="0">
                <a:latin typeface="Candara" panose="020E0502030303020204" pitchFamily="34" charset="0"/>
              </a:rPr>
              <a:t> (XP</a:t>
            </a:r>
            <a:r>
              <a:rPr lang="es-ES" sz="3200" dirty="0" smtClean="0">
                <a:latin typeface="Candara" panose="020E0502030303020204" pitchFamily="34" charset="0"/>
              </a:rPr>
              <a:t>). Se </a:t>
            </a:r>
            <a:r>
              <a:rPr lang="es-ES" sz="3200" dirty="0">
                <a:latin typeface="Candara" panose="020E0502030303020204" pitchFamily="34" charset="0"/>
              </a:rPr>
              <a:t>realizó un análisis minucioso del modelo de base de </a:t>
            </a:r>
            <a:r>
              <a:rPr lang="es-ES" sz="3200" dirty="0" smtClean="0">
                <a:latin typeface="Candara" panose="020E0502030303020204" pitchFamily="34" charset="0"/>
              </a:rPr>
              <a:t>datos. </a:t>
            </a:r>
            <a:endParaRPr lang="es-DO" sz="3200" dirty="0">
              <a:latin typeface="Candara" panose="020E0502030303020204" pitchFamily="34" charset="0"/>
            </a:endParaRPr>
          </a:p>
        </p:txBody>
      </p:sp>
      <p:sp useBgFill="1">
        <p:nvSpPr>
          <p:cNvPr id="7" name="Datos 6"/>
          <p:cNvSpPr/>
          <p:nvPr/>
        </p:nvSpPr>
        <p:spPr>
          <a:xfrm>
            <a:off x="10737669" y="6245352"/>
            <a:ext cx="1454331" cy="612648"/>
          </a:xfrm>
          <a:prstGeom prst="flowChartInputOutpu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CU" sz="3600" b="1" dirty="0" smtClean="0">
                <a:ln/>
                <a:latin typeface="Algerian" panose="04020705040A02060702" pitchFamily="82" charset="0"/>
              </a:rPr>
              <a:t>22</a:t>
            </a:r>
            <a:endParaRPr lang="en-US" sz="3600" b="1" dirty="0">
              <a:ln/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13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785389" y="90487"/>
            <a:ext cx="69494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Universidad de Ciego de Ávila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áximo Gómez Báez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Facultad de Informática y Ciencias </a:t>
            </a: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Exactas</a:t>
            </a:r>
          </a:p>
          <a:p>
            <a:pPr algn="ctr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000" dirty="0">
                <a:latin typeface="Arial" panose="020B0604020202020204" pitchFamily="34" charset="0"/>
                <a:ea typeface="Times New Roman" panose="02020603050405020304" pitchFamily="18" charset="0"/>
              </a:rPr>
              <a:t>Carrera: Ing. Informática</a:t>
            </a:r>
            <a:r>
              <a:rPr lang="es-ES" sz="20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s-MX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Imagen 4" descr="C:\Users\Ores\AppData\Local\Microsoft\Windows\INetCache\Content.Word\NEGRO.PNG">
            <a:extLst>
              <a:ext uri="{FF2B5EF4-FFF2-40B4-BE49-F238E27FC236}">
                <a16:creationId xmlns:a16="http://schemas.microsoft.com/office/drawing/2014/main" xmlns="" id="{89601B4F-C7F0-4305-9B1D-91448841D5F3}"/>
              </a:ext>
            </a:extLst>
          </p:cNvPr>
          <p:cNvPicPr/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8696" y="90487"/>
            <a:ext cx="1933304" cy="181208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/>
          <p:cNvSpPr txBox="1"/>
          <p:nvPr/>
        </p:nvSpPr>
        <p:spPr>
          <a:xfrm>
            <a:off x="738398" y="1579105"/>
            <a:ext cx="104869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U" sz="3200" i="1" dirty="0">
                <a:latin typeface="Arial" panose="020B0604020202020204" pitchFamily="34" charset="0"/>
                <a:cs typeface="Arial" panose="020B0604020202020204" pitchFamily="34" charset="0"/>
              </a:rPr>
              <a:t>Sistema informático para la gestión de información de las </a:t>
            </a:r>
            <a:r>
              <a:rPr lang="es-C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tesis de </a:t>
            </a:r>
            <a:r>
              <a:rPr lang="es-CU" sz="3200" i="1" dirty="0">
                <a:latin typeface="Arial" panose="020B0604020202020204" pitchFamily="34" charset="0"/>
                <a:cs typeface="Arial" panose="020B0604020202020204" pitchFamily="34" charset="0"/>
              </a:rPr>
              <a:t>la Universidad de Ciego de Ávila ¨Máximo Gómez Báez¨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3002846" y="3585430"/>
            <a:ext cx="65145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Proyecto final de programación web, base de datos avanzada e ingeniería de requisitos</a:t>
            </a:r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2018101" y="4853092"/>
            <a:ext cx="8484013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U" sz="2000" dirty="0">
                <a:latin typeface="Arial" panose="020B0604020202020204" pitchFamily="34" charset="0"/>
                <a:cs typeface="Arial" panose="020B0604020202020204" pitchFamily="34" charset="0"/>
              </a:rPr>
              <a:t>Autores: </a:t>
            </a:r>
            <a:r>
              <a:rPr lang="es-C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Alberto Castañeda Valdivia</a:t>
            </a:r>
            <a:endParaRPr lang="es-C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</a:p>
          <a:p>
            <a:pPr algn="ctr"/>
            <a:endParaRPr lang="es-CU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s-ES" sz="20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Año 2025, </a:t>
            </a:r>
            <a:r>
              <a:rPr lang="es-ES" sz="2000" dirty="0">
                <a:latin typeface="Arial" panose="020B0604020202020204" pitchFamily="34" charset="0"/>
                <a:ea typeface="Times New Roman" panose="02020603050405020304" pitchFamily="18" charset="0"/>
              </a:rPr>
              <a:t>Ciego de Ávila</a:t>
            </a:r>
            <a:r>
              <a:rPr lang="es-ES" sz="20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s-MX" sz="2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13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521</Words>
  <Application>Microsoft Office PowerPoint</Application>
  <PresentationFormat>Personalizado</PresentationFormat>
  <Paragraphs>110</Paragraphs>
  <Slides>23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4" baseType="lpstr">
      <vt:lpstr>Tema de Office</vt:lpstr>
      <vt:lpstr>Presentación de PowerPoint</vt:lpstr>
      <vt:lpstr>INTRODUCCIÓN</vt:lpstr>
      <vt:lpstr>SITUACIÓN PROBLÉMICA</vt:lpstr>
      <vt:lpstr>PROBLEMA DE INVESTIGACIÓN</vt:lpstr>
      <vt:lpstr>POSIBLES CAUSAS</vt:lpstr>
      <vt:lpstr>OBJETO DE ESTUDIO</vt:lpstr>
      <vt:lpstr>OBJETIVO GENERAL</vt:lpstr>
      <vt:lpstr>CAMPO DE ACCIÓN</vt:lpstr>
      <vt:lpstr>TECNOLOGÍAS A UTILIZAR</vt:lpstr>
      <vt:lpstr>TECNOLOGÍAS A UTILIZAR</vt:lpstr>
      <vt:lpstr>REQUISITOS FUNCIONALES</vt:lpstr>
      <vt:lpstr>REQUISITOS NO FUNCIONALES</vt:lpstr>
      <vt:lpstr>Diagrama físico de la base de datos</vt:lpstr>
      <vt:lpstr>Diagrama físico de la base de datos</vt:lpstr>
      <vt:lpstr>PATRÓN DE DISEÑO</vt:lpstr>
      <vt:lpstr>SEGURIDAD</vt:lpstr>
      <vt:lpstr>Interfaces del sistema</vt:lpstr>
      <vt:lpstr>Interfaces del sistema</vt:lpstr>
      <vt:lpstr>Interfaces del sistema</vt:lpstr>
      <vt:lpstr>CONCLUSIONES</vt:lpstr>
      <vt:lpstr>CONCLUSIONES</vt:lpstr>
      <vt:lpstr>CONCLUSIONES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Jean Carlos</dc:creator>
  <cp:lastModifiedBy>Usuario de Windows</cp:lastModifiedBy>
  <cp:revision>119</cp:revision>
  <dcterms:created xsi:type="dcterms:W3CDTF">2023-05-31T04:11:41Z</dcterms:created>
  <dcterms:modified xsi:type="dcterms:W3CDTF">2026-01-08T02:03:37Z</dcterms:modified>
</cp:coreProperties>
</file>